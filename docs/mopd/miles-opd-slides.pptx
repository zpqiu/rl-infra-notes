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82296" cy="4572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62626"/>
                </a:solidFill>
              </a:rPr>
              <a:t>miles OPD：单 teacher，两种 teacher 后端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840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ADADAD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</a:rPr>
              <a:t>--opd-type=sglang 使用单一 rm_url，--opd-type=megatron 使用单一 opd_teacher_load，top-k 仅 sglang 模式支持。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</a:rPr>
              <a:t>没有 teacher 注册表、按样本路由和多 teacher 生命周期管理，严格说是单 teacher OPD，不是 MOPD。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486400" cy="3017520"/>
          </a:xfrm>
          <a:prstGeom prst="roundRect">
            <a:avLst/>
          </a:prstGeom>
          <a:solidFill>
            <a:srgbClr val="E3EEF8"/>
          </a:solidFill>
          <a:ln w="22225">
            <a:solidFill>
              <a:srgbClr val="3D8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212080" cy="411480"/>
          </a:xfrm>
          <a:prstGeom prst="round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sglang 模式：外部 teacher 服务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2194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D8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1">
                <a:solidFill>
                  <a:srgbClr val="262626"/>
                </a:solidFill>
              </a:rPr>
              <a:t>student SGLang</a:t>
            </a:r>
          </a:p>
          <a:p>
            <a:pPr algn="ctr"/>
            <a:r>
              <a:rPr sz="1100" b="0">
                <a:solidFill>
                  <a:srgbClr val="5A5A5A"/>
                </a:solidFill>
              </a:rPr>
              <a:t>rollout 引擎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514600"/>
            <a:ext cx="2103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9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1">
                <a:solidFill>
                  <a:srgbClr val="262626"/>
                </a:solidFill>
              </a:rPr>
              <a:t>teacher SGLang</a:t>
            </a:r>
          </a:p>
          <a:p>
            <a:pPr algn="ctr"/>
            <a:r>
              <a:rPr sz="1100" b="0">
                <a:solidFill>
                  <a:srgbClr val="5A5A5A"/>
                </a:solidFill>
              </a:rPr>
              <a:t>外部启动，框架不管理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2971800"/>
            <a:ext cx="594360" cy="0"/>
          </a:xfrm>
          <a:prstGeom prst="line">
            <a:avLst/>
          </a:prstGeom>
          <a:ln w="19050">
            <a:solidFill>
              <a:srgbClr val="E69A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3611879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</a:rPr>
              <a:t>每 sample 一次 HTTP 打分请求，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</a:rPr>
              <a:t>teacher 响应返回前该 sample 的 rollout 任务不算完成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486400" cy="3017520"/>
          </a:xfrm>
          <a:prstGeom prst="roundRect">
            <a:avLst/>
          </a:prstGeom>
          <a:solidFill>
            <a:srgbClr val="FBEFDA"/>
          </a:solidFill>
          <a:ln w="22225">
            <a:solidFill>
              <a:srgbClr val="E69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0" y="1874519"/>
            <a:ext cx="5212080" cy="411480"/>
          </a:xfrm>
          <a:prstGeom prst="roundRect">
            <a:avLst/>
          </a:prstGeom>
          <a:solidFill>
            <a:srgbClr val="E6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megatron 模式：actor 内权重切换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79" y="2514600"/>
            <a:ext cx="2194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1">
                <a:solidFill>
                  <a:srgbClr val="262626"/>
                </a:solidFill>
              </a:rPr>
              <a:t>CPU pinned memory</a:t>
            </a:r>
          </a:p>
          <a:p>
            <a:pPr algn="ctr"/>
            <a:r>
              <a:rPr sz="1150" b="0">
                <a:solidFill>
                  <a:srgbClr val="5A5A5A"/>
                </a:solidFill>
              </a:rPr>
              <a:t>actor / ref / teacher</a:t>
            </a:r>
          </a:p>
          <a:p>
            <a:pPr algn="ctr"/>
            <a:r>
              <a:rPr sz="1150" b="0">
                <a:solidFill>
                  <a:srgbClr val="5A5A5A"/>
                </a:solidFill>
              </a:rPr>
              <a:t>三份完整权重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2514600"/>
            <a:ext cx="2103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1">
                <a:solidFill>
                  <a:srgbClr val="262626"/>
                </a:solidFill>
              </a:rPr>
              <a:t>GPU</a:t>
            </a:r>
          </a:p>
          <a:p>
            <a:pPr algn="ctr"/>
            <a:r>
              <a:rPr sz="1150" b="0">
                <a:solidFill>
                  <a:srgbClr val="5A5A5A"/>
                </a:solidFill>
              </a:rPr>
              <a:t>同一个 Megatron</a:t>
            </a:r>
          </a:p>
          <a:p>
            <a:pPr algn="ctr"/>
            <a:r>
              <a:rPr sz="1150" b="0">
                <a:solidFill>
                  <a:srgbClr val="5A5A5A"/>
                </a:solidFill>
              </a:rPr>
              <a:t>模型对象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0" y="2971800"/>
            <a:ext cx="594360" cy="0"/>
          </a:xfrm>
          <a:prstGeom prst="line">
            <a:avLst/>
          </a:prstGeom>
          <a:ln w="190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778240" y="3429000"/>
            <a:ext cx="594360" cy="0"/>
          </a:xfrm>
          <a:prstGeom prst="line">
            <a:avLst/>
          </a:prstGeom>
          <a:ln w="19050"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595359" y="26060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5A5A"/>
                </a:solidFill>
              </a:rPr>
              <a:t>restore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59" y="3474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ADADAD"/>
                </a:solidFill>
              </a:rPr>
              <a:t>backup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0233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</a:rPr>
              <a:t>训练时按需把某份权重整体恢复到 GPU，不占额外 GPU 节点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97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dirty="0" err="1">
                <a:solidFill>
                  <a:srgbClr val="5A5A5A"/>
                </a:solidFill>
              </a:rPr>
              <a:t>对应实现：rollout</a:t>
            </a:r>
            <a:r>
              <a:rPr sz="1150" b="0" dirty="0">
                <a:solidFill>
                  <a:srgbClr val="5A5A5A"/>
                </a:solidFill>
              </a:rPr>
              <a:t>/</a:t>
            </a:r>
            <a:r>
              <a:rPr sz="1150" b="0" dirty="0" err="1">
                <a:solidFill>
                  <a:srgbClr val="5A5A5A"/>
                </a:solidFill>
              </a:rPr>
              <a:t>on_policy_distillation.py（reward</a:t>
            </a:r>
            <a:r>
              <a:rPr sz="1150" b="0" dirty="0">
                <a:solidFill>
                  <a:srgbClr val="5A5A5A"/>
                </a:solidFill>
              </a:rPr>
              <a:t> hook）、backends/</a:t>
            </a:r>
            <a:r>
              <a:rPr sz="1150" b="0" dirty="0" err="1">
                <a:solidFill>
                  <a:srgbClr val="5A5A5A"/>
                </a:solidFill>
              </a:rPr>
              <a:t>training_utils</a:t>
            </a:r>
            <a:r>
              <a:rPr sz="1150" b="0" dirty="0">
                <a:solidFill>
                  <a:srgbClr val="5A5A5A"/>
                </a:solidFill>
              </a:rPr>
              <a:t>/</a:t>
            </a:r>
            <a:r>
              <a:rPr sz="1150" b="0" dirty="0" err="1">
                <a:solidFill>
                  <a:srgbClr val="5A5A5A"/>
                </a:solidFill>
              </a:rPr>
              <a:t>loss_hub</a:t>
            </a:r>
            <a:r>
              <a:rPr sz="1150" b="0" dirty="0">
                <a:solidFill>
                  <a:srgbClr val="5A5A5A"/>
                </a:solidFill>
              </a:rPr>
              <a:t>/</a:t>
            </a:r>
            <a:r>
              <a:rPr sz="1150" b="0" dirty="0" err="1">
                <a:solidFill>
                  <a:srgbClr val="5A5A5A"/>
                </a:solidFill>
              </a:rPr>
              <a:t>opd.py（advantage</a:t>
            </a:r>
            <a:r>
              <a:rPr sz="1150" b="0" dirty="0">
                <a:solidFill>
                  <a:srgbClr val="5A5A5A"/>
                </a:solidFill>
              </a:rPr>
              <a:t> </a:t>
            </a:r>
            <a:r>
              <a:rPr sz="1150" b="0" dirty="0" err="1">
                <a:solidFill>
                  <a:srgbClr val="5A5A5A"/>
                </a:solidFill>
              </a:rPr>
              <a:t>叠加</a:t>
            </a:r>
            <a:r>
              <a:rPr sz="1150" b="0" dirty="0">
                <a:solidFill>
                  <a:srgbClr val="5A5A5A"/>
                </a:solidFill>
              </a:rPr>
              <a:t>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82296" cy="4572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62626"/>
                </a:solidFill>
              </a:rPr>
              <a:t>sglang 模式：逐轮同步流水线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840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ADADAD"/>
                </a:solidFill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200400" cy="914400"/>
          </a:xfrm>
          <a:prstGeom prst="roundRect">
            <a:avLst/>
          </a:prstGeom>
          <a:solidFill>
            <a:srgbClr val="E3EEF8"/>
          </a:solidFill>
          <a:ln w="19050">
            <a:solidFill>
              <a:srgbClr val="3D8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</a:rPr>
              <a:t>generate</a:t>
            </a:r>
          </a:p>
          <a:p>
            <a:pPr algn="ctr"/>
            <a:r>
              <a:rPr sz="1100" b="0">
                <a:solidFill>
                  <a:srgbClr val="5A5A5A"/>
                </a:solidFill>
              </a:rPr>
              <a:t>SGLang rollout，信号量限流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566160" cy="914400"/>
          </a:xfrm>
          <a:prstGeom prst="roundRect">
            <a:avLst/>
          </a:prstGeom>
          <a:solidFill>
            <a:srgbClr val="FBEFDA"/>
          </a:solidFill>
          <a:ln w="19050">
            <a:solidFill>
              <a:srgbClr val="E69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</a:rPr>
              <a:t>teacher HTTP 打分</a:t>
            </a:r>
          </a:p>
          <a:p>
            <a:pPr algn="ctr"/>
            <a:r>
              <a:rPr sz="1100" b="0">
                <a:solidFill>
                  <a:srgbClr val="5A5A5A"/>
                </a:solidFill>
              </a:rPr>
              <a:t>reward hook，每 sample 一次 prefill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325880"/>
            <a:ext cx="3108960" cy="914400"/>
          </a:xfrm>
          <a:prstGeom prst="roundRect">
            <a:avLst/>
          </a:prstGeom>
          <a:solidFill>
            <a:srgbClr val="FBEFDA"/>
          </a:solidFill>
          <a:ln w="19050">
            <a:solidFill>
              <a:srgbClr val="E69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</a:rPr>
              <a:t>post_process 提取信号</a:t>
            </a:r>
          </a:p>
          <a:p>
            <a:pPr algn="ctr"/>
            <a:r>
              <a:rPr sz="1100" b="0">
                <a:solidFill>
                  <a:srgbClr val="5A5A5A"/>
                </a:solidFill>
              </a:rPr>
              <a:t>teacher_lp 或 top-k reverse-KL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03320" y="1783080"/>
            <a:ext cx="640080" cy="0"/>
          </a:xfrm>
          <a:prstGeom prst="line">
            <a:avLst/>
          </a:prstGeom>
          <a:ln w="190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909560" y="1783080"/>
            <a:ext cx="640080" cy="0"/>
          </a:xfrm>
          <a:prstGeom prst="line">
            <a:avLst/>
          </a:prstGeom>
          <a:ln w="190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788920"/>
            <a:ext cx="3200400" cy="914400"/>
          </a:xfrm>
          <a:prstGeom prst="roundRect">
            <a:avLst/>
          </a:prstGeom>
          <a:solidFill>
            <a:srgbClr val="F4F4F0"/>
          </a:solidFill>
          <a:ln w="190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</a:rPr>
              <a:t>整个 rollout batch 收齐</a:t>
            </a:r>
          </a:p>
          <a:p>
            <a:pPr algn="ctr"/>
            <a:r>
              <a:rPr sz="1100" b="0">
                <a:solidFill>
                  <a:srgbClr val="5A5A5A"/>
                </a:solidFill>
              </a:rPr>
              <a:t>全部 sample 打分完成后才能训练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788920"/>
            <a:ext cx="3566160" cy="914400"/>
          </a:xfrm>
          <a:prstGeom prst="roundRect">
            <a:avLst/>
          </a:prstGeom>
          <a:solidFill>
            <a:srgbClr val="ECF4DC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</a:rPr>
              <a:t>训练</a:t>
            </a:r>
          </a:p>
          <a:p>
            <a:pPr algn="ctr"/>
            <a:r>
              <a:rPr sz="1100" b="0">
                <a:solidFill>
                  <a:srgbClr val="5A5A5A"/>
                </a:solidFill>
              </a:rPr>
              <a:t>重算 student_lp，A = A_base − λ·KL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2788920"/>
            <a:ext cx="3108960" cy="914400"/>
          </a:xfrm>
          <a:prstGeom prst="roundRect">
            <a:avLst/>
          </a:prstGeom>
          <a:solidFill>
            <a:srgbClr val="ECF4DC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</a:rPr>
              <a:t>update_weights</a:t>
            </a:r>
          </a:p>
          <a:p>
            <a:pPr algn="ctr"/>
            <a:r>
              <a:rPr sz="1100" b="0">
                <a:solidFill>
                  <a:srgbClr val="5A5A5A"/>
                </a:solidFill>
              </a:rPr>
              <a:t>同步后进入下一轮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03320" y="3246120"/>
            <a:ext cx="640080" cy="0"/>
          </a:xfrm>
          <a:prstGeom prst="line">
            <a:avLst/>
          </a:prstGeom>
          <a:ln w="190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09560" y="3246120"/>
            <a:ext cx="640080" cy="0"/>
          </a:xfrm>
          <a:prstGeom prst="line">
            <a:avLst/>
          </a:prstGeom>
          <a:ln w="190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103120" y="2240280"/>
            <a:ext cx="8001000" cy="548640"/>
          </a:xfrm>
          <a:prstGeom prst="line">
            <a:avLst/>
          </a:prstGeom>
          <a:ln w="190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68680" y="3904487"/>
            <a:ext cx="10652760" cy="0"/>
          </a:xfrm>
          <a:prstGeom prst="line">
            <a:avLst/>
          </a:prstGeom>
          <a:ln w="19050"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78086" y="3974850"/>
            <a:ext cx="6358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dirty="0" err="1">
                <a:solidFill>
                  <a:srgbClr val="5A5A5A"/>
                </a:solidFill>
              </a:rPr>
              <a:t>下一轮</a:t>
            </a:r>
            <a:endParaRPr sz="1100" b="0" dirty="0">
              <a:solidFill>
                <a:srgbClr val="5A5A5A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4343400"/>
            <a:ext cx="11247120" cy="1051560"/>
          </a:xfrm>
          <a:prstGeom prst="roundRect">
            <a:avLst/>
          </a:prstGeom>
          <a:solidFill>
            <a:srgbClr val="F8E3E1"/>
          </a:solidFill>
          <a:ln w="19050">
            <a:solidFill>
              <a:srgbClr val="CC4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300" b="0">
                <a:solidFill>
                  <a:srgbClr val="262626"/>
                </a:solidFill>
              </a:rPr>
              <a:t>teacher 打分是一次全序列 prefill：max_new_tokens=0、return_logprob，只计算 input logprobs，没有 decode 阶段。</a:t>
            </a:r>
          </a:p>
          <a:p>
            <a:pPr algn="l"/>
            <a:r>
              <a:rPr sz="1300" b="0">
                <a:solidFill>
                  <a:srgbClr val="262626"/>
                </a:solidFill>
              </a:rPr>
              <a:t>客户端不限流也不显式组 batch：跨 sample 的 batching 由 SGLang 服务端 continuous batching 自动完成；每次请求新建 aiohttp.ClientSession。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82296" cy="4572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62626"/>
                </a:solidFill>
              </a:rPr>
              <a:t>megatron 模式：同一份 GPU 上切换多份权重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840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ADADAD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</a:rPr>
              <a:t>teacher checkpoint 作为一个 backup tag 常驻 CPU pinned memory，与 actor / ref 平级；训练中按需整体恢复到 GPU。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920240" cy="822960"/>
          </a:xfrm>
          <a:prstGeom prst="roundRect">
            <a:avLst/>
          </a:prstGeom>
          <a:solidFill>
            <a:srgbClr val="F4F4F0"/>
          </a:solidFill>
          <a:ln w="190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1">
                <a:solidFill>
                  <a:srgbClr val="262626"/>
                </a:solidFill>
              </a:rPr>
              <a:t>restore teacher</a:t>
            </a:r>
          </a:p>
          <a:p>
            <a:pPr algn="ctr"/>
            <a:r>
              <a:rPr sz="1050" b="0">
                <a:solidFill>
                  <a:srgbClr val="5A5A5A"/>
                </a:solidFill>
              </a:rPr>
              <a:t>全模型 H2D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554480"/>
            <a:ext cx="2011680" cy="822960"/>
          </a:xfrm>
          <a:prstGeom prst="roundRect">
            <a:avLst/>
          </a:prstGeom>
          <a:solidFill>
            <a:srgbClr val="FBEFDA"/>
          </a:solidFill>
          <a:ln w="19050">
            <a:solidFill>
              <a:srgbClr val="E69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1">
                <a:solidFill>
                  <a:srgbClr val="262626"/>
                </a:solidFill>
              </a:rPr>
              <a:t>teacher forward</a:t>
            </a:r>
          </a:p>
          <a:p>
            <a:pPr algn="ctr"/>
            <a:r>
              <a:rPr sz="1050" b="0">
                <a:solidFill>
                  <a:srgbClr val="5A5A5A"/>
                </a:solidFill>
              </a:rPr>
              <a:t>teacher_log_probs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554480"/>
            <a:ext cx="1828800" cy="822960"/>
          </a:xfrm>
          <a:prstGeom prst="roundRect">
            <a:avLst/>
          </a:prstGeom>
          <a:solidFill>
            <a:srgbClr val="F4F4F0"/>
          </a:solidFill>
          <a:ln w="190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1">
                <a:solidFill>
                  <a:srgbClr val="262626"/>
                </a:solidFill>
              </a:rPr>
              <a:t>restore ref</a:t>
            </a:r>
          </a:p>
          <a:p>
            <a:pPr algn="ctr"/>
            <a:r>
              <a:rPr sz="1050" b="0">
                <a:solidFill>
                  <a:srgbClr val="5A5A5A"/>
                </a:solidFill>
              </a:rPr>
              <a:t>如配置 ref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554480"/>
            <a:ext cx="1828800" cy="822960"/>
          </a:xfrm>
          <a:prstGeom prst="roundRect">
            <a:avLst/>
          </a:prstGeom>
          <a:solidFill>
            <a:srgbClr val="F4F4F0"/>
          </a:solidFill>
          <a:ln w="190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1">
                <a:solidFill>
                  <a:srgbClr val="262626"/>
                </a:solidFill>
              </a:rPr>
              <a:t>restore actor</a:t>
            </a:r>
          </a:p>
          <a:p>
            <a:pPr algn="ctr"/>
            <a:r>
              <a:rPr sz="1050" b="0">
                <a:solidFill>
                  <a:srgbClr val="5A5A5A"/>
                </a:solidFill>
              </a:rPr>
              <a:t>全模型 H2D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554480"/>
            <a:ext cx="2148840" cy="822960"/>
          </a:xfrm>
          <a:prstGeom prst="roundRect">
            <a:avLst/>
          </a:prstGeom>
          <a:solidFill>
            <a:srgbClr val="ECF4DC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1">
                <a:solidFill>
                  <a:srgbClr val="262626"/>
                </a:solidFill>
              </a:rPr>
              <a:t>actor forward+backward</a:t>
            </a:r>
          </a:p>
          <a:p>
            <a:pPr algn="ctr"/>
            <a:r>
              <a:rPr sz="1050" b="0">
                <a:solidFill>
                  <a:srgbClr val="5A5A5A"/>
                </a:solidFill>
              </a:rPr>
              <a:t>训练更新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3160" y="1965960"/>
            <a:ext cx="365760" cy="0"/>
          </a:xfrm>
          <a:prstGeom prst="line">
            <a:avLst/>
          </a:prstGeom>
          <a:ln w="190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00600" y="1965960"/>
            <a:ext cx="365760" cy="0"/>
          </a:xfrm>
          <a:prstGeom prst="line">
            <a:avLst/>
          </a:prstGeom>
          <a:ln w="190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95160" y="1965960"/>
            <a:ext cx="365760" cy="0"/>
          </a:xfrm>
          <a:prstGeom prst="line">
            <a:avLst/>
          </a:prstGeom>
          <a:ln w="190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89720" y="1965960"/>
            <a:ext cx="365760" cy="0"/>
          </a:xfrm>
          <a:prstGeom prst="line">
            <a:avLst/>
          </a:prstGeom>
          <a:ln w="190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2468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A5A5A"/>
                </a:solidFill>
              </a:rPr>
              <a:t>每个训练 batch 的执行顺序（train_actor）：teacher 与 actor 之间至少两次全模型权重搬运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063240"/>
            <a:ext cx="11155680" cy="1177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dirty="0" err="1">
                <a:solidFill>
                  <a:srgbClr val="262626"/>
                </a:solidFill>
              </a:rPr>
              <a:t>代价与约束</a:t>
            </a:r>
            <a:r>
              <a:rPr sz="1500" b="1" dirty="0">
                <a:solidFill>
                  <a:srgbClr val="262626"/>
                </a:solidFill>
              </a:rPr>
              <a:t>：</a:t>
            </a:r>
          </a:p>
          <a:p>
            <a:pPr algn="l">
              <a:spcAft>
                <a:spcPts val="600"/>
              </a:spcAft>
            </a:pPr>
            <a:r>
              <a:rPr sz="1350" b="0" dirty="0">
                <a:solidFill>
                  <a:srgbClr val="262626"/>
                </a:solidFill>
              </a:rPr>
              <a:t>•  </a:t>
            </a:r>
            <a:r>
              <a:rPr sz="1350" b="0" dirty="0" err="1">
                <a:solidFill>
                  <a:srgbClr val="262626"/>
                </a:solidFill>
              </a:rPr>
              <a:t>每次</a:t>
            </a:r>
            <a:r>
              <a:rPr sz="1350" b="0" dirty="0">
                <a:solidFill>
                  <a:srgbClr val="262626"/>
                </a:solidFill>
              </a:rPr>
              <a:t> restore </a:t>
            </a:r>
            <a:r>
              <a:rPr sz="1350" b="0" dirty="0" err="1">
                <a:solidFill>
                  <a:srgbClr val="262626"/>
                </a:solidFill>
              </a:rPr>
              <a:t>是全模型</a:t>
            </a:r>
            <a:r>
              <a:rPr sz="1350" b="0" dirty="0">
                <a:solidFill>
                  <a:srgbClr val="262626"/>
                </a:solidFill>
              </a:rPr>
              <a:t> H2D </a:t>
            </a:r>
            <a:r>
              <a:rPr sz="1350" b="0" dirty="0" err="1">
                <a:solidFill>
                  <a:srgbClr val="262626"/>
                </a:solidFill>
              </a:rPr>
              <a:t>拷贝并同步等待（copy</a:t>
            </a:r>
            <a:r>
              <a:rPr sz="1350" b="0" dirty="0">
                <a:solidFill>
                  <a:srgbClr val="262626"/>
                </a:solidFill>
              </a:rPr>
              <a:t> + </a:t>
            </a:r>
            <a:r>
              <a:rPr sz="1350" b="0" dirty="0" err="1">
                <a:solidFill>
                  <a:srgbClr val="262626"/>
                </a:solidFill>
              </a:rPr>
              <a:t>cuda.synchronize</a:t>
            </a:r>
            <a:r>
              <a:rPr sz="1350" b="0" dirty="0">
                <a:solidFill>
                  <a:srgbClr val="262626"/>
                </a:solidFill>
              </a:rPr>
              <a:t>），teacher </a:t>
            </a:r>
            <a:r>
              <a:rPr sz="1350" b="0" dirty="0" err="1">
                <a:solidFill>
                  <a:srgbClr val="262626"/>
                </a:solidFill>
              </a:rPr>
              <a:t>越大，每个</a:t>
            </a:r>
            <a:r>
              <a:rPr sz="1350" b="0" dirty="0">
                <a:solidFill>
                  <a:srgbClr val="262626"/>
                </a:solidFill>
              </a:rPr>
              <a:t> batch </a:t>
            </a:r>
            <a:r>
              <a:rPr sz="1350" b="0" dirty="0" err="1">
                <a:solidFill>
                  <a:srgbClr val="262626"/>
                </a:solidFill>
              </a:rPr>
              <a:t>的切换开销越高</a:t>
            </a:r>
            <a:endParaRPr sz="1350" b="0" dirty="0">
              <a:solidFill>
                <a:srgbClr val="262626"/>
              </a:solidFill>
            </a:endParaRPr>
          </a:p>
          <a:p>
            <a:pPr algn="l">
              <a:spcAft>
                <a:spcPts val="600"/>
              </a:spcAft>
            </a:pPr>
            <a:r>
              <a:rPr sz="1350" b="0" dirty="0">
                <a:solidFill>
                  <a:srgbClr val="262626"/>
                </a:solidFill>
              </a:rPr>
              <a:t>•  CPU </a:t>
            </a:r>
            <a:r>
              <a:rPr sz="1350" b="0" dirty="0" err="1">
                <a:solidFill>
                  <a:srgbClr val="262626"/>
                </a:solidFill>
              </a:rPr>
              <a:t>侧需要常驻</a:t>
            </a:r>
            <a:r>
              <a:rPr sz="1350" b="0" dirty="0">
                <a:solidFill>
                  <a:srgbClr val="262626"/>
                </a:solidFill>
              </a:rPr>
              <a:t> actor / ref / teacher </a:t>
            </a:r>
            <a:r>
              <a:rPr sz="1350" b="0" dirty="0" err="1">
                <a:solidFill>
                  <a:srgbClr val="262626"/>
                </a:solidFill>
              </a:rPr>
              <a:t>各一份完整权重的</a:t>
            </a:r>
            <a:r>
              <a:rPr sz="1350" b="0" dirty="0">
                <a:solidFill>
                  <a:srgbClr val="262626"/>
                </a:solidFill>
              </a:rPr>
              <a:t> pinned memory</a:t>
            </a:r>
          </a:p>
          <a:p>
            <a:pPr algn="l">
              <a:spcAft>
                <a:spcPts val="600"/>
              </a:spcAft>
            </a:pPr>
            <a:r>
              <a:rPr sz="1350" b="0" dirty="0">
                <a:solidFill>
                  <a:srgbClr val="262626"/>
                </a:solidFill>
              </a:rPr>
              <a:t>•  teacher </a:t>
            </a:r>
            <a:r>
              <a:rPr sz="1350" b="0" dirty="0" err="1">
                <a:solidFill>
                  <a:srgbClr val="262626"/>
                </a:solidFill>
              </a:rPr>
              <a:t>的参数结构必须与</a:t>
            </a:r>
            <a:r>
              <a:rPr sz="1350" b="0" dirty="0">
                <a:solidFill>
                  <a:srgbClr val="262626"/>
                </a:solidFill>
              </a:rPr>
              <a:t> actor </a:t>
            </a:r>
            <a:r>
              <a:rPr sz="1350" b="0" dirty="0" err="1">
                <a:solidFill>
                  <a:srgbClr val="262626"/>
                </a:solidFill>
              </a:rPr>
              <a:t>兼容（同一模型对象、按参数名恢复</a:t>
            </a:r>
            <a:r>
              <a:rPr sz="1350" b="0" dirty="0">
                <a:solidFill>
                  <a:srgbClr val="262626"/>
                </a:solidFill>
              </a:rPr>
              <a:t>），</a:t>
            </a:r>
            <a:r>
              <a:rPr sz="1350" b="0" dirty="0" err="1">
                <a:solidFill>
                  <a:srgbClr val="262626"/>
                </a:solidFill>
              </a:rPr>
              <a:t>跨结构蒸馏不可行</a:t>
            </a:r>
            <a:endParaRPr sz="1350" b="0" dirty="0">
              <a:solidFill>
                <a:srgbClr val="262626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5440680"/>
            <a:ext cx="10881360" cy="685800"/>
          </a:xfrm>
          <a:prstGeom prst="roundRect">
            <a:avLst/>
          </a:prstGeom>
          <a:solidFill>
            <a:srgbClr val="FBEFDA"/>
          </a:solidFill>
          <a:ln w="19050">
            <a:solidFill>
              <a:srgbClr val="E69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rgbClr val="262626"/>
                </a:solidFill>
              </a:rPr>
              <a:t>适用场景：GPU 数量紧张、单 teacher、teacher 规模不大；换来的是不占任何额外 GPU 节点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82296" cy="4572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62626"/>
                </a:solidFill>
              </a:rPr>
              <a:t>与 NeMo-RL MOPD 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840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ADADAD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737360" cy="475488"/>
          </a:xfrm>
          <a:prstGeom prst="rect">
            <a:avLst/>
          </a:prstGeom>
          <a:solidFill>
            <a:srgbClr val="F4F4F0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250" b="1">
                <a:solidFill>
                  <a:srgbClr val="5A5A5A"/>
                </a:solidFill>
              </a:rPr>
              <a:t>维度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0280" y="1188720"/>
            <a:ext cx="4754880" cy="475488"/>
          </a:xfrm>
          <a:prstGeom prst="rect">
            <a:avLst/>
          </a:prstGeom>
          <a:solidFill>
            <a:srgbClr val="F4F4F0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250" b="1">
                <a:solidFill>
                  <a:srgbClr val="5A5A5A"/>
                </a:solidFill>
              </a:rPr>
              <a:t>NeMo-RL MOPD</a:t>
            </a:r>
          </a:p>
        </p:txBody>
      </p:sp>
      <p:sp>
        <p:nvSpPr>
          <p:cNvPr id="7" name="Rectangle 6"/>
          <p:cNvSpPr/>
          <p:nvPr/>
        </p:nvSpPr>
        <p:spPr>
          <a:xfrm>
            <a:off x="6995160" y="1188720"/>
            <a:ext cx="4754880" cy="475488"/>
          </a:xfrm>
          <a:prstGeom prst="rect">
            <a:avLst/>
          </a:prstGeom>
          <a:solidFill>
            <a:srgbClr val="F4F4F0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250" b="1">
                <a:solidFill>
                  <a:srgbClr val="5A5A5A"/>
                </a:solidFill>
              </a:rPr>
              <a:t>miles OPD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64208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1">
                <a:solidFill>
                  <a:srgbClr val="262626"/>
                </a:solidFill>
              </a:rPr>
              <a:t>多 teacher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664208"/>
            <a:ext cx="4754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0">
                <a:solidFill>
                  <a:srgbClr val="262626"/>
                </a:solidFill>
              </a:rPr>
              <a:t>支持：按 agent 名称路由，相同 checkpoint 合并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664208"/>
            <a:ext cx="4754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0">
                <a:solidFill>
                  <a:srgbClr val="262626"/>
                </a:solidFill>
              </a:rPr>
              <a:t>不支持：单一 rm_url 或单一 teacher checkpoint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39696"/>
            <a:ext cx="1737360" cy="475488"/>
          </a:xfrm>
          <a:prstGeom prst="rect">
            <a:avLst/>
          </a:prstGeom>
          <a:solidFill>
            <a:srgbClr val="FAFAF8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1">
                <a:solidFill>
                  <a:srgbClr val="262626"/>
                </a:solidFill>
              </a:rPr>
              <a:t>teacher 部署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2139696"/>
            <a:ext cx="4754880" cy="475488"/>
          </a:xfrm>
          <a:prstGeom prst="rect">
            <a:avLst/>
          </a:prstGeom>
          <a:solidFill>
            <a:srgbClr val="FAFAF8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0">
                <a:solidFill>
                  <a:srgbClr val="262626"/>
                </a:solidFill>
              </a:rPr>
              <a:t>独立 Megatron worker group，Ray 托管、静态放置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2139696"/>
            <a:ext cx="4754880" cy="475488"/>
          </a:xfrm>
          <a:prstGeom prst="rect">
            <a:avLst/>
          </a:prstGeom>
          <a:solidFill>
            <a:srgbClr val="FAFAF8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0">
                <a:solidFill>
                  <a:srgbClr val="262626"/>
                </a:solidFill>
              </a:rPr>
              <a:t>外部 SGLang 服务（shell 启动）；或 actor 内权重切换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15184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1">
                <a:solidFill>
                  <a:srgbClr val="262626"/>
                </a:solidFill>
              </a:rPr>
              <a:t>打分时机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2615184"/>
            <a:ext cx="4754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0">
                <a:solidFill>
                  <a:srgbClr val="262626"/>
                </a:solidFill>
              </a:rPr>
              <a:t>轨迹采集阶段，进入 replay buffer 之前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2615184"/>
            <a:ext cx="4754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0">
                <a:solidFill>
                  <a:srgbClr val="262626"/>
                </a:solidFill>
              </a:rPr>
              <a:t>sglang：rollout reward 阶段；megatron：训练 batch 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90672"/>
            <a:ext cx="1737360" cy="475488"/>
          </a:xfrm>
          <a:prstGeom prst="rect">
            <a:avLst/>
          </a:prstGeom>
          <a:solidFill>
            <a:srgbClr val="FAFAF8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1">
                <a:solidFill>
                  <a:srgbClr val="262626"/>
                </a:solidFill>
              </a:rPr>
              <a:t>流水线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3090672"/>
            <a:ext cx="4754880" cy="475488"/>
          </a:xfrm>
          <a:prstGeom prst="rect">
            <a:avLst/>
          </a:prstGeom>
          <a:solidFill>
            <a:srgbClr val="FAFAF8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0">
                <a:solidFill>
                  <a:srgbClr val="262626"/>
                </a:solidFill>
              </a:rPr>
              <a:t>异步 collector + replay buffer，按轨迹年龄门控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60" y="3090672"/>
            <a:ext cx="4754880" cy="475488"/>
          </a:xfrm>
          <a:prstGeom prst="rect">
            <a:avLst/>
          </a:prstGeom>
          <a:solidFill>
            <a:srgbClr val="FAFAF8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0">
                <a:solidFill>
                  <a:srgbClr val="262626"/>
                </a:solidFill>
              </a:rPr>
              <a:t>逐轮同步：generate → train → update_weights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566160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1">
                <a:solidFill>
                  <a:srgbClr val="262626"/>
                </a:solidFill>
              </a:rPr>
              <a:t>并发控制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3566160"/>
            <a:ext cx="4754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0">
                <a:solidFill>
                  <a:srgbClr val="262626"/>
                </a:solidFill>
              </a:rPr>
              <a:t>同 teacher 加锁串行，跨 teacher 并行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3566160"/>
            <a:ext cx="4754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0">
                <a:solidFill>
                  <a:srgbClr val="262626"/>
                </a:solidFill>
              </a:rPr>
              <a:t>客户端无限流，服务端 continuous batching 自动组 batch；megatron 模式串行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041648"/>
            <a:ext cx="1737360" cy="475488"/>
          </a:xfrm>
          <a:prstGeom prst="rect">
            <a:avLst/>
          </a:prstGeom>
          <a:solidFill>
            <a:srgbClr val="FAFAF8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1">
                <a:solidFill>
                  <a:srgbClr val="262626"/>
                </a:solidFill>
              </a:rPr>
              <a:t>学习信号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0280" y="4041648"/>
            <a:ext cx="4754880" cy="475488"/>
          </a:xfrm>
          <a:prstGeom prst="rect">
            <a:avLst/>
          </a:prstGeom>
          <a:solidFill>
            <a:srgbClr val="FAFAF8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0">
                <a:solidFill>
                  <a:srgbClr val="262626"/>
                </a:solidFill>
              </a:rPr>
              <a:t>sampled-token logprob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95160" y="4041648"/>
            <a:ext cx="4754880" cy="475488"/>
          </a:xfrm>
          <a:prstGeom prst="rect">
            <a:avLst/>
          </a:prstGeom>
          <a:solidFill>
            <a:srgbClr val="FAFAF8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0">
                <a:solidFill>
                  <a:srgbClr val="262626"/>
                </a:solidFill>
              </a:rPr>
              <a:t>sampled-token，或 top-k 加权 reverse-KL（5 种集合策略）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17136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1">
                <a:solidFill>
                  <a:srgbClr val="262626"/>
                </a:solidFill>
              </a:rPr>
              <a:t>loss 形式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0280" y="4517136"/>
            <a:ext cx="4754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0">
                <a:solidFill>
                  <a:srgbClr val="262626"/>
                </a:solidFill>
              </a:rPr>
              <a:t>OPD 作为独立 advantage estimator，ICE-POP + REINFORCE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95160" y="4517136"/>
            <a:ext cx="4754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0">
                <a:solidFill>
                  <a:srgbClr val="262626"/>
                </a:solidFill>
              </a:rPr>
              <a:t>A_base − λ·KL，可与 GRPO / PPO / 任务 reward 组合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992624"/>
            <a:ext cx="1737360" cy="475488"/>
          </a:xfrm>
          <a:prstGeom prst="rect">
            <a:avLst/>
          </a:prstGeom>
          <a:solidFill>
            <a:srgbClr val="FAFAF8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1">
                <a:solidFill>
                  <a:srgbClr val="262626"/>
                </a:solidFill>
              </a:rPr>
              <a:t>大 teacher 成本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0280" y="4992624"/>
            <a:ext cx="4754880" cy="475488"/>
          </a:xfrm>
          <a:prstGeom prst="rect">
            <a:avLst/>
          </a:prstGeom>
          <a:solidFill>
            <a:srgbClr val="FAFAF8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0">
                <a:solidFill>
                  <a:srgbClr val="262626"/>
                </a:solidFill>
              </a:rPr>
              <a:t>独占 GPU 节点，吞吐稳定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95160" y="4992624"/>
            <a:ext cx="4754880" cy="475488"/>
          </a:xfrm>
          <a:prstGeom prst="rect">
            <a:avLst/>
          </a:prstGeom>
          <a:solidFill>
            <a:srgbClr val="FAFAF8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0">
                <a:solidFill>
                  <a:srgbClr val="262626"/>
                </a:solidFill>
              </a:rPr>
              <a:t>SGLang 需另备 GPU；megatron 模式付出 CPU 内存与每 batch H2D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468112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1">
                <a:solidFill>
                  <a:srgbClr val="262626"/>
                </a:solidFill>
              </a:rPr>
              <a:t>主要短板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5468112"/>
            <a:ext cx="4754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0">
                <a:solidFill>
                  <a:srgbClr val="262626"/>
                </a:solidFill>
              </a:rPr>
              <a:t>打分计入采集耗时；同 teacher 无请求合并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95160" y="5468112"/>
            <a:ext cx="4754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50" b="0">
                <a:solidFill>
                  <a:srgbClr val="262626"/>
                </a:solidFill>
              </a:rPr>
              <a:t>单 teacher；同步流水线；teacher 服务无治理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6126480"/>
            <a:ext cx="11247120" cy="640080"/>
          </a:xfrm>
          <a:prstGeom prst="roundRect">
            <a:avLst/>
          </a:prstGeom>
          <a:solidFill>
            <a:srgbClr val="FBEFDA"/>
          </a:solidFill>
          <a:ln w="19050">
            <a:solidFill>
              <a:srgbClr val="E69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50" b="1">
                <a:solidFill>
                  <a:srgbClr val="262626"/>
                </a:solidFill>
              </a:rPr>
              <a:t>互补方向：miles 的 top-k 信号与损失组合能力，加上 NeMo-RL 的多 teacher 编排与异步流水线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539</Words>
  <Application>Microsoft Macintosh PowerPoint</Application>
  <PresentationFormat>宽屏</PresentationFormat>
  <Paragraphs>91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Zhaopeng Qiu</cp:lastModifiedBy>
  <cp:revision>5</cp:revision>
  <dcterms:created xsi:type="dcterms:W3CDTF">2013-01-27T09:14:16Z</dcterms:created>
  <dcterms:modified xsi:type="dcterms:W3CDTF">2026-07-16T13:40:19Z</dcterms:modified>
  <cp:category/>
</cp:coreProperties>
</file>