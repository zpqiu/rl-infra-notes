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2" d="100"/>
          <a:sy n="112" d="100"/>
        </p:scale>
        <p:origin x="216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Placement：训练、推理、teacher 三类角色分离部署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train_nodes = total − rm_nodes − Σ teacher_i.num_nodes − inference_nodes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5A5A"/>
                </a:solidFill>
              </a:rPr>
              <a:t>teacher 节点在划分 policy / inference 之前先行扣除，训练侧不可使用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697480" cy="2743200"/>
          </a:xfrm>
          <a:prstGeom prst="roundRect">
            <a:avLst/>
          </a:prstGeom>
          <a:solidFill>
            <a:srgbClr val="ECF4DC"/>
          </a:solidFill>
          <a:ln w="2222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4632" y="1783080"/>
            <a:ext cx="2459736" cy="41148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Node 0 · 训练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2313432"/>
            <a:ext cx="2459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grpo_train_cluster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MegatronPolicyWorker ×8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optimizer + ref model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student，可训练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645920"/>
            <a:ext cx="2697480" cy="2743200"/>
          </a:xfrm>
          <a:prstGeom prst="roundRect">
            <a:avLst/>
          </a:prstGeom>
          <a:solidFill>
            <a:srgbClr val="E3EEF8"/>
          </a:solidFill>
          <a:ln w="22225">
            <a:solidFill>
              <a:srgbClr val="3D8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459736" cy="411480"/>
          </a:xfrm>
          <a:prstGeom prst="round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Node 1 · vLLM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313432"/>
            <a:ext cx="2459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inference cluster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vLLM async engine ×8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权重冻结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持 weight_version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645920"/>
            <a:ext cx="2697480" cy="2743200"/>
          </a:xfrm>
          <a:prstGeom prst="roundRect">
            <a:avLst/>
          </a:prstGeom>
          <a:solidFill>
            <a:srgbClr val="FBEFDA"/>
          </a:solidFill>
          <a:ln w="22225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73368" y="1783080"/>
            <a:ext cx="2459736" cy="411480"/>
          </a:xfrm>
          <a:prstGeom prst="roundRect">
            <a:avLst/>
          </a:prstGeom>
          <a:solidFill>
            <a:srgbClr val="E6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Node 2 · teacher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2313432"/>
            <a:ext cx="2459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teacher_math_agent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Qwen3-32B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MegatronPolicyWorker ×8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无 optimizer / ref model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只跑 get_logprobs()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4" y="1645920"/>
            <a:ext cx="2697480" cy="2743200"/>
          </a:xfrm>
          <a:prstGeom prst="roundRect">
            <a:avLst/>
          </a:prstGeom>
          <a:solidFill>
            <a:srgbClr val="FBEFDA"/>
          </a:solidFill>
          <a:ln w="22225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17736" y="1783080"/>
            <a:ext cx="2459736" cy="411480"/>
          </a:xfrm>
          <a:prstGeom prst="roundRect">
            <a:avLst/>
          </a:prstGeom>
          <a:solidFill>
            <a:srgbClr val="E6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Node 3 · teacher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17736" y="2313432"/>
            <a:ext cx="2459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teacher_vision_agent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Qwen3-14B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MegatronPolicyWorker ×8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TP/PP 单独配置</a:t>
            </a:r>
          </a:p>
          <a:p>
            <a:pPr algn="ctr"/>
            <a:r>
              <a:rPr sz="1200" b="0">
                <a:solidFill>
                  <a:srgbClr val="5A5A5A"/>
                </a:solidFill>
              </a:rPr>
              <a:t>与 teacher A 互不共享节点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63240" y="3017520"/>
            <a:ext cx="246888" cy="0"/>
          </a:xfrm>
          <a:prstGeom prst="line">
            <a:avLst/>
          </a:prstGeom>
          <a:ln w="28575">
            <a:solidFill>
              <a:srgbClr val="4E7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53512" y="2606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4E7A00"/>
                </a:solidFill>
              </a:rPr>
              <a:t>refit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6344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</a:rPr>
              <a:t>每个 teacher group 是一个独立的 RayVirtualCluster。worker 与 student 是同一个类，但不初始化 optimizer 和 reference model，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</a:rPr>
              <a:t>并行配置（TP/PP/CP/EP）单独指定。图中画了 2 个 teacher；3n8g recipe 实际只配置 1 个。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32120"/>
            <a:ext cx="10881360" cy="685800"/>
          </a:xfrm>
          <a:prstGeom prst="roundRect">
            <a:avLst/>
          </a:prstGeom>
          <a:solidFill>
            <a:srgbClr val="F4F4F0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</a:rPr>
              <a:t>约束：仅支持 non-colocated 部署；必须使用 async GRPO（setup 阶段 assert）；扣除后训练节点不足会在启动时报错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多 teacher：按 checkpoint 去重，一组一个独占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50" b="0">
                <a:solidFill>
                  <a:srgbClr val="262626"/>
                </a:solidFill>
                <a:latin typeface="Menlo"/>
              </a:rPr>
              <a:t>math_agent → Qwen3-32B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50" b="0">
                <a:solidFill>
                  <a:srgbClr val="262626"/>
                </a:solidFill>
                <a:latin typeface="Menlo"/>
              </a:rPr>
              <a:t>code_agent → Qwen3-32B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9748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50" b="0">
                <a:solidFill>
                  <a:srgbClr val="262626"/>
                </a:solidFill>
                <a:latin typeface="Menlo"/>
              </a:rPr>
              <a:t>vision_agent → Qwen3-14B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96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5A5A"/>
                </a:solidFill>
              </a:rPr>
              <a:t>agent alias（agent_ref.name）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896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5A5A"/>
                </a:solidFill>
              </a:rPr>
              <a:t>按 checkpoint 折叠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2743200" cy="548640"/>
          </a:xfrm>
          <a:prstGeom prst="roundRect">
            <a:avLst/>
          </a:prstGeom>
          <a:solidFill>
            <a:srgbClr val="FBEFDA"/>
          </a:solidFill>
          <a:ln w="1270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0">
                <a:solidFill>
                  <a:srgbClr val="262626"/>
                </a:solidFill>
              </a:rPr>
              <a:t>group “math_agent”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（名字取首个 alias）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697480"/>
            <a:ext cx="2743200" cy="548640"/>
          </a:xfrm>
          <a:prstGeom prst="roundRect">
            <a:avLst/>
          </a:prstGeom>
          <a:solidFill>
            <a:srgbClr val="FBEFDA"/>
          </a:solidFill>
          <a:ln w="1270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0">
                <a:solidFill>
                  <a:srgbClr val="262626"/>
                </a:solidFill>
              </a:rPr>
              <a:t>group “vision_agent”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896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5A5A"/>
                </a:solidFill>
              </a:rPr>
              <a:t>独占 RayVirtualCluster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0688" y="1600200"/>
            <a:ext cx="32918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>
                <a:solidFill>
                  <a:srgbClr val="262626"/>
                </a:solidFill>
              </a:rPr>
              <a:t>teacher_math_agent（Qwen3-32B ×N 节点）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2697480"/>
            <a:ext cx="32918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>
                <a:solidFill>
                  <a:srgbClr val="262626"/>
                </a:solidFill>
              </a:rPr>
              <a:t>teacher_vision_agent（Qwen3-14B ×N 节点）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93008" y="1508760"/>
            <a:ext cx="731520" cy="292608"/>
          </a:xfrm>
          <a:prstGeom prst="line">
            <a:avLst/>
          </a:prstGeom>
          <a:ln w="19050">
            <a:solidFill>
              <a:srgbClr val="ADAD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93008" y="1984248"/>
            <a:ext cx="731520" cy="256031"/>
          </a:xfrm>
          <a:prstGeom prst="line">
            <a:avLst/>
          </a:prstGeom>
          <a:ln w="19050">
            <a:solidFill>
              <a:srgbClr val="ADAD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93008" y="2971800"/>
            <a:ext cx="731520" cy="0"/>
          </a:xfrm>
          <a:prstGeom prst="line">
            <a:avLst/>
          </a:prstGeom>
          <a:ln w="19050">
            <a:solidFill>
              <a:srgbClr val="ADAD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67728" y="1874519"/>
            <a:ext cx="822960" cy="0"/>
          </a:xfrm>
          <a:prstGeom prst="line">
            <a:avLst/>
          </a:prstGeom>
          <a:ln w="19050">
            <a:solidFill>
              <a:srgbClr val="E69A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67728" y="2971800"/>
            <a:ext cx="822960" cy="0"/>
          </a:xfrm>
          <a:prstGeom prst="line">
            <a:avLst/>
          </a:prstGeom>
          <a:ln w="19050">
            <a:solidFill>
              <a:srgbClr val="E69A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3520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Menlo"/>
              </a:rPr>
              <a:t>alias_to_group_alias = { math_agent: math_agent,  code_agent: math_agent,  vision_agent: vision_agent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0690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</a:rPr>
              <a:t>开 cluster.segment_size 时的放置逻辑：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62626"/>
                </a:solidFill>
              </a:rPr>
              <a:t>•  每个 teacher 整体固定在一个 NVLink domain 内，TP/PP/CP 通信不跨 domain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62626"/>
                </a:solidFill>
              </a:rPr>
              <a:t>•  候选节点是 policy / inference 放置完成后剩余的部分，每放置一步收窄一次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62626"/>
                </a:solidFill>
              </a:rPr>
              <a:t>•  每放置一个 teacher 立即通过 get_placement_groups 占用节点，后续 teacher 不会选到同一批节点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15000"/>
            <a:ext cx="10881360" cy="64008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262626"/>
                </a:solidFill>
              </a:rPr>
              <a:t>N 个不同 checkpoint 对应 N 个独占 cluster，节点静态分配，扩展成本随 teacher 数量线性增长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路由与并发：一个线程一个 prompt group，整组路由到同一个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011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agent_ref.name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（每条数据自带）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188720"/>
            <a:ext cx="4114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teacher_model_by_agent_name 查表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查不到走 default_teacher_alias，strict 模式直接报错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188720"/>
            <a:ext cx="3749039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alias → teacher group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相同 checkpoint 的 alias 折叠（见上页）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1554480"/>
            <a:ext cx="64008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69480" y="1554480"/>
            <a:ext cx="64008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331720"/>
            <a:ext cx="3749039" cy="566928"/>
          </a:xfrm>
          <a:prstGeom prst="roundRect">
            <a:avLst/>
          </a:prstGeom>
          <a:solidFill>
            <a:srgbClr val="E3EEF8"/>
          </a:solidFill>
          <a:ln w="12700">
            <a:solidFill>
              <a:srgbClr val="3D8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>
                <a:solidFill>
                  <a:srgbClr val="262626"/>
                </a:solidFill>
              </a:rPr>
              <a:t>线程 1：prompt A × 4 条采样（math_agent）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3749039" cy="566928"/>
          </a:xfrm>
          <a:prstGeom prst="roundRect">
            <a:avLst/>
          </a:prstGeom>
          <a:solidFill>
            <a:srgbClr val="E3EEF8"/>
          </a:solidFill>
          <a:ln w="12700">
            <a:solidFill>
              <a:srgbClr val="3D8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>
                <a:solidFill>
                  <a:srgbClr val="262626"/>
                </a:solidFill>
              </a:rPr>
              <a:t>线程 2：prompt B × 4 条采样（code_agent）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749039" cy="566928"/>
          </a:xfrm>
          <a:prstGeom prst="roundRect">
            <a:avLst/>
          </a:prstGeom>
          <a:solidFill>
            <a:srgbClr val="E3EEF8"/>
          </a:solidFill>
          <a:ln w="12700">
            <a:solidFill>
              <a:srgbClr val="3D8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>
                <a:solidFill>
                  <a:srgbClr val="262626"/>
                </a:solidFill>
              </a:rPr>
              <a:t>线程 3：prompt C × 4 条采样（vision_agent）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29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5A5A5A"/>
                </a:solidFill>
              </a:rPr>
              <a:t>collector 线程（一线程一组，同一 target 的线程同时启动）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468880"/>
            <a:ext cx="3383280" cy="77724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</a:rPr>
              <a:t>teacher_math_agent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加锁，请求依次执行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703320"/>
            <a:ext cx="3383280" cy="77724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</a:rPr>
              <a:t>teacher_vision_agent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与 teacher_math_agent 并行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2615184"/>
            <a:ext cx="3977640" cy="82296"/>
          </a:xfrm>
          <a:prstGeom prst="line">
            <a:avLst/>
          </a:prstGeom>
          <a:ln w="19050">
            <a:solidFill>
              <a:srgbClr val="E69A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251960" y="3017520"/>
            <a:ext cx="3977640" cy="374904"/>
          </a:xfrm>
          <a:prstGeom prst="line">
            <a:avLst/>
          </a:prstGeom>
          <a:ln w="19050">
            <a:solidFill>
              <a:srgbClr val="CC4B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251960" y="4114800"/>
            <a:ext cx="3977640" cy="54863"/>
          </a:xfrm>
          <a:prstGeom prst="line">
            <a:avLst/>
          </a:prstGeom>
          <a:ln w="19050">
            <a:solidFill>
              <a:srgbClr val="E69A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12080" y="33101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C4B44"/>
                </a:solidFill>
              </a:rPr>
              <a:t>同一 teacher：排队（lock_wait）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206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E7A00"/>
                </a:solidFill>
              </a:rPr>
              <a:t>不同 teacher：并行执行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11155680" cy="868680"/>
          </a:xfrm>
          <a:prstGeom prst="roundRect">
            <a:avLst/>
          </a:prstGeom>
          <a:solidFill>
            <a:srgbClr val="F8E3E1"/>
          </a:solidFill>
          <a:ln w="19050">
            <a:solidFill>
              <a:srgbClr val="CC4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300" b="0">
                <a:solidFill>
                  <a:srgbClr val="262626"/>
                </a:solidFill>
              </a:rPr>
              <a:t>同一 teacher 上为什么串行：并发调用会使各 DP rank 收到的 collective 顺序不一致，导致 NCCL 通信超时（600s），</a:t>
            </a:r>
          </a:p>
          <a:p>
            <a:pPr algn="l"/>
            <a:r>
              <a:rPr sz="1300" b="0">
                <a:solidFill>
                  <a:srgbClr val="262626"/>
                </a:solidFill>
              </a:rPr>
              <a:t>因此每个 worker group 配一把锁，同一 teacher 的请求依次执行。跨 teacher 的并行来自多个线程分别请求不同的 teacher。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52160"/>
            <a:ext cx="11338560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dirty="0">
                <a:solidFill>
                  <a:srgbClr val="5A5A5A"/>
                </a:solidFill>
              </a:rPr>
              <a:t>•  </a:t>
            </a:r>
            <a:r>
              <a:rPr sz="1250" b="0" dirty="0" err="1">
                <a:solidFill>
                  <a:srgbClr val="5A5A5A"/>
                </a:solidFill>
              </a:rPr>
              <a:t>一次</a:t>
            </a:r>
            <a:r>
              <a:rPr sz="1250" b="0" dirty="0">
                <a:solidFill>
                  <a:srgbClr val="5A5A5A"/>
                </a:solidFill>
              </a:rPr>
              <a:t> teacher forward </a:t>
            </a:r>
            <a:r>
              <a:rPr sz="1250" b="0" dirty="0" err="1">
                <a:solidFill>
                  <a:srgbClr val="5A5A5A"/>
                </a:solidFill>
              </a:rPr>
              <a:t>的输入</a:t>
            </a:r>
            <a:r>
              <a:rPr sz="1250" b="0" dirty="0">
                <a:solidFill>
                  <a:srgbClr val="5A5A5A"/>
                </a:solidFill>
              </a:rPr>
              <a:t> = </a:t>
            </a:r>
            <a:r>
              <a:rPr sz="1250" b="0" dirty="0" err="1">
                <a:solidFill>
                  <a:srgbClr val="5A5A5A"/>
                </a:solidFill>
              </a:rPr>
              <a:t>一个</a:t>
            </a:r>
            <a:r>
              <a:rPr sz="1250" b="0" dirty="0">
                <a:solidFill>
                  <a:srgbClr val="5A5A5A"/>
                </a:solidFill>
              </a:rPr>
              <a:t> prompt group </a:t>
            </a:r>
            <a:r>
              <a:rPr sz="1250" b="0" dirty="0" err="1">
                <a:solidFill>
                  <a:srgbClr val="5A5A5A"/>
                </a:solidFill>
              </a:rPr>
              <a:t>的</a:t>
            </a:r>
            <a:r>
              <a:rPr sz="1250" b="0" dirty="0">
                <a:solidFill>
                  <a:srgbClr val="5A5A5A"/>
                </a:solidFill>
              </a:rPr>
              <a:t> G </a:t>
            </a:r>
            <a:r>
              <a:rPr sz="1250" b="0" dirty="0" err="1">
                <a:solidFill>
                  <a:srgbClr val="5A5A5A"/>
                </a:solidFill>
              </a:rPr>
              <a:t>条样本（本</a:t>
            </a:r>
            <a:r>
              <a:rPr sz="1250" b="0" dirty="0">
                <a:solidFill>
                  <a:srgbClr val="5A5A5A"/>
                </a:solidFill>
              </a:rPr>
              <a:t> recipe G=4），pad </a:t>
            </a:r>
            <a:r>
              <a:rPr sz="1250" b="0" dirty="0" err="1">
                <a:solidFill>
                  <a:srgbClr val="5A5A5A"/>
                </a:solidFill>
              </a:rPr>
              <a:t>到</a:t>
            </a:r>
            <a:r>
              <a:rPr sz="1250" b="0" dirty="0">
                <a:solidFill>
                  <a:srgbClr val="5A5A5A"/>
                </a:solidFill>
              </a:rPr>
              <a:t> teacher DP size </a:t>
            </a:r>
            <a:r>
              <a:rPr sz="1250" b="0" dirty="0" err="1">
                <a:solidFill>
                  <a:srgbClr val="5A5A5A"/>
                </a:solidFill>
              </a:rPr>
              <a:t>整数倍后按</a:t>
            </a:r>
            <a:r>
              <a:rPr sz="1250" b="0" dirty="0">
                <a:solidFill>
                  <a:srgbClr val="5A5A5A"/>
                </a:solidFill>
              </a:rPr>
              <a:t> DP </a:t>
            </a:r>
            <a:r>
              <a:rPr sz="1250" b="0" dirty="0" err="1">
                <a:solidFill>
                  <a:srgbClr val="5A5A5A"/>
                </a:solidFill>
              </a:rPr>
              <a:t>切分</a:t>
            </a:r>
            <a:endParaRPr sz="1250" b="0" dirty="0">
              <a:solidFill>
                <a:srgbClr val="5A5A5A"/>
              </a:solidFill>
            </a:endParaRPr>
          </a:p>
          <a:p>
            <a:pPr algn="l">
              <a:spcAft>
                <a:spcPts val="400"/>
              </a:spcAft>
            </a:pPr>
            <a:r>
              <a:rPr sz="1250" b="0" dirty="0">
                <a:solidFill>
                  <a:srgbClr val="5A5A5A"/>
                </a:solidFill>
              </a:rPr>
              <a:t>•  </a:t>
            </a:r>
            <a:r>
              <a:rPr sz="1250" b="0" dirty="0" err="1">
                <a:solidFill>
                  <a:srgbClr val="5A5A5A"/>
                </a:solidFill>
              </a:rPr>
              <a:t>两个线程命中同一</a:t>
            </a:r>
            <a:r>
              <a:rPr sz="1250" b="0" dirty="0">
                <a:solidFill>
                  <a:srgbClr val="5A5A5A"/>
                </a:solidFill>
              </a:rPr>
              <a:t> teacher </a:t>
            </a:r>
            <a:r>
              <a:rPr sz="1250" b="0" dirty="0" err="1">
                <a:solidFill>
                  <a:srgbClr val="5A5A5A"/>
                </a:solidFill>
              </a:rPr>
              <a:t>时，两次</a:t>
            </a:r>
            <a:r>
              <a:rPr sz="1250" b="0" dirty="0">
                <a:solidFill>
                  <a:srgbClr val="5A5A5A"/>
                </a:solidFill>
              </a:rPr>
              <a:t> forward </a:t>
            </a:r>
            <a:r>
              <a:rPr sz="1250" b="0" dirty="0" err="1">
                <a:solidFill>
                  <a:srgbClr val="5A5A5A"/>
                </a:solidFill>
              </a:rPr>
              <a:t>依次执行，不会合并为一个更大的</a:t>
            </a:r>
            <a:r>
              <a:rPr sz="1250" b="0" dirty="0">
                <a:solidFill>
                  <a:srgbClr val="5A5A5A"/>
                </a:solidFill>
              </a:rPr>
              <a:t> batch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稳态时序（max_trajectory_age_steps =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338560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dirty="0" err="1">
                <a:solidFill>
                  <a:srgbClr val="5A5A5A"/>
                </a:solidFill>
              </a:rPr>
              <a:t>g_k</a:t>
            </a:r>
            <a:r>
              <a:rPr sz="1200" b="0" dirty="0">
                <a:solidFill>
                  <a:srgbClr val="5A5A5A"/>
                </a:solidFill>
              </a:rPr>
              <a:t> = </a:t>
            </a:r>
            <a:r>
              <a:rPr sz="1200" b="0" dirty="0" err="1">
                <a:solidFill>
                  <a:srgbClr val="5A5A5A"/>
                </a:solidFill>
              </a:rPr>
              <a:t>一个</a:t>
            </a:r>
            <a:r>
              <a:rPr sz="1200" b="0" dirty="0">
                <a:solidFill>
                  <a:srgbClr val="5A5A5A"/>
                </a:solidFill>
              </a:rPr>
              <a:t> prompt group（1 </a:t>
            </a:r>
            <a:r>
              <a:rPr sz="1200" b="0" dirty="0" err="1">
                <a:solidFill>
                  <a:srgbClr val="5A5A5A"/>
                </a:solidFill>
              </a:rPr>
              <a:t>个</a:t>
            </a:r>
            <a:r>
              <a:rPr sz="1200" b="0" dirty="0">
                <a:solidFill>
                  <a:srgbClr val="5A5A5A"/>
                </a:solidFill>
              </a:rPr>
              <a:t> prompt × </a:t>
            </a:r>
            <a:r>
              <a:rPr sz="1200" b="0" dirty="0" err="1">
                <a:solidFill>
                  <a:srgbClr val="5A5A5A"/>
                </a:solidFill>
              </a:rPr>
              <a:t>num_generations</a:t>
            </a:r>
            <a:r>
              <a:rPr sz="1200" b="0" dirty="0">
                <a:solidFill>
                  <a:srgbClr val="5A5A5A"/>
                </a:solidFill>
              </a:rPr>
              <a:t> </a:t>
            </a:r>
            <a:r>
              <a:rPr sz="1200" b="0" dirty="0" err="1">
                <a:solidFill>
                  <a:srgbClr val="5A5A5A"/>
                </a:solidFill>
              </a:rPr>
              <a:t>条采样，本</a:t>
            </a:r>
            <a:r>
              <a:rPr sz="1200" b="0" dirty="0">
                <a:solidFill>
                  <a:srgbClr val="5A5A5A"/>
                </a:solidFill>
              </a:rPr>
              <a:t> recipe </a:t>
            </a:r>
            <a:r>
              <a:rPr sz="1200" b="0" dirty="0" err="1">
                <a:solidFill>
                  <a:srgbClr val="5A5A5A"/>
                </a:solidFill>
              </a:rPr>
              <a:t>为</a:t>
            </a:r>
            <a:r>
              <a:rPr sz="1200" b="0" dirty="0">
                <a:solidFill>
                  <a:srgbClr val="5A5A5A"/>
                </a:solidFill>
              </a:rPr>
              <a:t> 4 </a:t>
            </a:r>
            <a:r>
              <a:rPr sz="1200" b="0" dirty="0" err="1">
                <a:solidFill>
                  <a:srgbClr val="5A5A5A"/>
                </a:solidFill>
              </a:rPr>
              <a:t>条</a:t>
            </a:r>
            <a:r>
              <a:rPr sz="1200" b="0" dirty="0">
                <a:solidFill>
                  <a:srgbClr val="5A5A5A"/>
                </a:solidFill>
              </a:rPr>
              <a:t>）；score = </a:t>
            </a:r>
            <a:r>
              <a:rPr sz="1200" b="0" dirty="0" err="1">
                <a:solidFill>
                  <a:srgbClr val="5A5A5A"/>
                </a:solidFill>
              </a:rPr>
              <a:t>整组一次</a:t>
            </a:r>
            <a:r>
              <a:rPr sz="1200" b="0" dirty="0">
                <a:solidFill>
                  <a:srgbClr val="5A5A5A"/>
                </a:solidFill>
              </a:rPr>
              <a:t> teacher forward。</a:t>
            </a:r>
          </a:p>
          <a:p>
            <a:pPr algn="l">
              <a:spcAft>
                <a:spcPts val="200"/>
              </a:spcAft>
            </a:pPr>
            <a:r>
              <a:rPr sz="1200" b="0" dirty="0" err="1">
                <a:solidFill>
                  <a:srgbClr val="5A5A5A"/>
                </a:solidFill>
              </a:rPr>
              <a:t>一个</a:t>
            </a:r>
            <a:r>
              <a:rPr sz="1200" b="0" dirty="0">
                <a:solidFill>
                  <a:srgbClr val="5A5A5A"/>
                </a:solidFill>
              </a:rPr>
              <a:t> target </a:t>
            </a:r>
            <a:r>
              <a:rPr sz="1200" b="0" dirty="0" err="1">
                <a:solidFill>
                  <a:srgbClr val="5A5A5A"/>
                </a:solidFill>
              </a:rPr>
              <a:t>的</a:t>
            </a:r>
            <a:r>
              <a:rPr sz="1200" b="0" dirty="0">
                <a:solidFill>
                  <a:srgbClr val="5A5A5A"/>
                </a:solidFill>
              </a:rPr>
              <a:t> 8 </a:t>
            </a:r>
            <a:r>
              <a:rPr sz="1200" b="0" dirty="0" err="1">
                <a:solidFill>
                  <a:srgbClr val="5A5A5A"/>
                </a:solidFill>
              </a:rPr>
              <a:t>个线程（num_prompts_per_step）几乎同时启动，rollout</a:t>
            </a:r>
            <a:r>
              <a:rPr sz="1200" b="0" dirty="0">
                <a:solidFill>
                  <a:srgbClr val="5A5A5A"/>
                </a:solidFill>
              </a:rPr>
              <a:t> </a:t>
            </a:r>
            <a:r>
              <a:rPr sz="1200" b="0" dirty="0" err="1">
                <a:solidFill>
                  <a:srgbClr val="5A5A5A"/>
                </a:solidFill>
              </a:rPr>
              <a:t>请求全部交给</a:t>
            </a:r>
            <a:r>
              <a:rPr sz="1200" b="0" dirty="0">
                <a:solidFill>
                  <a:srgbClr val="5A5A5A"/>
                </a:solidFill>
              </a:rPr>
              <a:t> </a:t>
            </a:r>
            <a:r>
              <a:rPr sz="1200" b="0" dirty="0" err="1">
                <a:solidFill>
                  <a:srgbClr val="5A5A5A"/>
                </a:solidFill>
              </a:rPr>
              <a:t>vLLM</a:t>
            </a:r>
            <a:r>
              <a:rPr sz="1200" b="0" dirty="0">
                <a:solidFill>
                  <a:srgbClr val="5A5A5A"/>
                </a:solidFill>
              </a:rPr>
              <a:t> async engine </a:t>
            </a:r>
            <a:r>
              <a:rPr sz="1200" b="0" dirty="0" err="1">
                <a:solidFill>
                  <a:srgbClr val="5A5A5A"/>
                </a:solidFill>
              </a:rPr>
              <a:t>并发处理，线程完成一组即退出；图示</a:t>
            </a:r>
            <a:r>
              <a:rPr sz="1200" b="0" dirty="0">
                <a:solidFill>
                  <a:srgbClr val="5A5A5A"/>
                </a:solidFill>
              </a:rPr>
              <a:t> 3 </a:t>
            </a:r>
            <a:r>
              <a:rPr sz="1200" b="0" dirty="0" err="1">
                <a:solidFill>
                  <a:srgbClr val="5A5A5A"/>
                </a:solidFill>
              </a:rPr>
              <a:t>组</a:t>
            </a:r>
            <a:r>
              <a:rPr sz="1200" b="0" dirty="0">
                <a:solidFill>
                  <a:srgbClr val="5A5A5A"/>
                </a:solidFill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1200" b="0" dirty="0" err="1">
                <a:solidFill>
                  <a:srgbClr val="5A5A5A"/>
                </a:solidFill>
              </a:rPr>
              <a:t>信号量上限</a:t>
            </a:r>
            <a:r>
              <a:rPr sz="1200" b="0" dirty="0">
                <a:solidFill>
                  <a:srgbClr val="5A5A5A"/>
                </a:solidFill>
              </a:rPr>
              <a:t> = </a:t>
            </a:r>
            <a:r>
              <a:rPr sz="1200" b="0" dirty="0" err="1">
                <a:solidFill>
                  <a:srgbClr val="5A5A5A"/>
                </a:solidFill>
              </a:rPr>
              <a:t>num_prompts_per_step</a:t>
            </a:r>
            <a:r>
              <a:rPr sz="1200" b="0" dirty="0">
                <a:solidFill>
                  <a:srgbClr val="5A5A5A"/>
                </a:solidFill>
              </a:rPr>
              <a:t> × </a:t>
            </a:r>
            <a:r>
              <a:rPr sz="1200" b="0" dirty="0" err="1">
                <a:solidFill>
                  <a:srgbClr val="5A5A5A"/>
                </a:solidFill>
              </a:rPr>
              <a:t>max_trajectory_age_steps，正常运行中不构成</a:t>
            </a:r>
            <a:r>
              <a:rPr lang="zh-CN" altLang="en-US" sz="1200" b="0" dirty="0">
                <a:solidFill>
                  <a:srgbClr val="5A5A5A"/>
                </a:solidFill>
              </a:rPr>
              <a:t>额外并发</a:t>
            </a:r>
            <a:r>
              <a:rPr sz="1200" b="0" dirty="0" err="1">
                <a:solidFill>
                  <a:srgbClr val="5A5A5A"/>
                </a:solidFill>
              </a:rPr>
              <a:t>限制</a:t>
            </a:r>
            <a:r>
              <a:rPr lang="zh-CN" altLang="en-US" sz="1200" dirty="0">
                <a:solidFill>
                  <a:srgbClr val="5A5A5A"/>
                </a:solidFill>
              </a:rPr>
              <a:t>。</a:t>
            </a:r>
            <a:endParaRPr sz="1200" b="0" dirty="0">
              <a:solidFill>
                <a:srgbClr val="5A5A5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18196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5A5A5A"/>
                </a:solidFill>
              </a:rPr>
              <a:t>g1 / 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21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5A5A5A"/>
                </a:solidFill>
              </a:rPr>
              <a:t>g2 / g5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24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5A5A5A"/>
                </a:solidFill>
              </a:rPr>
              <a:t>g3 / g6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266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5A5A5A"/>
                </a:solidFill>
              </a:rPr>
              <a:t>vLLM (N1)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29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5A5A5A"/>
                </a:solidFill>
              </a:rPr>
              <a:t>teacher (N2)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313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5A5A5A"/>
                </a:solidFill>
              </a:rPr>
              <a:t>policy (N0)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847088"/>
            <a:ext cx="1737360" cy="256032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rollout g1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79" y="1847088"/>
            <a:ext cx="822959" cy="256032"/>
          </a:xfrm>
          <a:prstGeom prst="rect">
            <a:avLst/>
          </a:prstGeom>
          <a:solidFill>
            <a:srgbClr val="E6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score g1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249424"/>
            <a:ext cx="2377440" cy="256032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rollout g2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249424"/>
            <a:ext cx="182879" cy="256032"/>
          </a:xfrm>
          <a:prstGeom prst="rect">
            <a:avLst/>
          </a:prstGeom>
          <a:solidFill>
            <a:srgbClr val="CC4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2249424"/>
            <a:ext cx="822960" cy="256032"/>
          </a:xfrm>
          <a:prstGeom prst="rect">
            <a:avLst/>
          </a:prstGeom>
          <a:solidFill>
            <a:srgbClr val="E6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score g2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2651760"/>
            <a:ext cx="3108960" cy="256032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rollout 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79" y="2651760"/>
            <a:ext cx="274320" cy="256032"/>
          </a:xfrm>
          <a:prstGeom prst="rect">
            <a:avLst/>
          </a:prstGeom>
          <a:solidFill>
            <a:srgbClr val="CC4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wait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2651760"/>
            <a:ext cx="822959" cy="256032"/>
          </a:xfrm>
          <a:prstGeom prst="rect">
            <a:avLst/>
          </a:prstGeom>
          <a:solidFill>
            <a:srgbClr val="E6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score g3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1847088"/>
            <a:ext cx="1463039" cy="256032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rollout g4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249424"/>
            <a:ext cx="1463039" cy="256032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rollout g5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651760"/>
            <a:ext cx="1463039" cy="256032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rollout g6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3054096"/>
            <a:ext cx="3108960" cy="256032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生成阶段满载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3054096"/>
            <a:ext cx="1463039" cy="256032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下一周期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054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ADADAD"/>
                </a:solidFill>
              </a:rPr>
              <a:t>空闲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79" y="3456432"/>
            <a:ext cx="2468879" cy="256032"/>
          </a:xfrm>
          <a:prstGeom prst="rect">
            <a:avLst/>
          </a:prstGeom>
          <a:solidFill>
            <a:srgbClr val="E6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g1 | g2 | g3 依次执行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56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ADADAD"/>
                </a:solidFill>
              </a:rPr>
              <a:t>空闲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79" y="3858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ADADAD"/>
                </a:solidFill>
              </a:rPr>
              <a:t>等待 8 组全部入 buffer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59" y="3858768"/>
            <a:ext cx="1828800" cy="2560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step 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59" y="3858768"/>
            <a:ext cx="365760" cy="2560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refit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874519" y="4224528"/>
            <a:ext cx="7955281" cy="0"/>
          </a:xfrm>
          <a:prstGeom prst="line">
            <a:avLst/>
          </a:prstGeom>
          <a:ln w="15875">
            <a:solidFill>
              <a:srgbClr val="ADAD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875520" y="40965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489704"/>
            <a:ext cx="256032" cy="146304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76272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</a:rPr>
              <a:t>rollout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58768" y="4489704"/>
            <a:ext cx="256032" cy="146304"/>
          </a:xfrm>
          <a:prstGeom prst="rect">
            <a:avLst/>
          </a:prstGeom>
          <a:solidFill>
            <a:srgbClr val="E6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60520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</a:rPr>
              <a:t>teacher 打分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1928" y="4489704"/>
            <a:ext cx="256032" cy="146304"/>
          </a:xfrm>
          <a:prstGeom prst="rect">
            <a:avLst/>
          </a:prstGeom>
          <a:solidFill>
            <a:srgbClr val="CC4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</a:rPr>
              <a:t>lock_wait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58784" y="4489704"/>
            <a:ext cx="256032" cy="1463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60536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</a:rPr>
              <a:t>训练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43032" y="4489704"/>
            <a:ext cx="256032" cy="1463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44784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</a:rPr>
              <a:t>refit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791456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</a:rPr>
              <a:t>age = 1 时，下一个 target 的生成必须等 refit 完成后启动，生成与训练两个阶段交替；age ≥ 2 时生成可提前一个 target 进行，与训练重叠。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</a:rPr>
              <a:t>打分与 rollout 长尾重叠，但训练要等最后一组打分完成，teacher 耗时直接计入每步周期；打分仍在采集阶段完成，训练步内不调用 teacher。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431536"/>
            <a:ext cx="1371600" cy="329184"/>
          </a:xfrm>
          <a:prstGeom prst="rect">
            <a:avLst/>
          </a:prstGeom>
          <a:solidFill>
            <a:srgbClr val="F4F4F0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1">
                <a:solidFill>
                  <a:srgbClr val="5A5A5A"/>
                </a:solidFill>
              </a:rPr>
              <a:t>角色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19" y="5431536"/>
            <a:ext cx="4754880" cy="329184"/>
          </a:xfrm>
          <a:prstGeom prst="rect">
            <a:avLst/>
          </a:prstGeom>
          <a:solidFill>
            <a:srgbClr val="F4F4F0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1">
                <a:solidFill>
                  <a:srgbClr val="5A5A5A"/>
                </a:solidFill>
              </a:rPr>
              <a:t>负载特征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5431536"/>
            <a:ext cx="5029200" cy="329184"/>
          </a:xfrm>
          <a:prstGeom prst="rect">
            <a:avLst/>
          </a:prstGeom>
          <a:solidFill>
            <a:srgbClr val="F4F4F0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1">
                <a:solidFill>
                  <a:srgbClr val="5A5A5A"/>
                </a:solidFill>
              </a:rPr>
              <a:t>瓶颈信号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76072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vLLM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5760720"/>
            <a:ext cx="4754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生成阶段满载，训练阶段空闲（age = 1）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5760720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rollout 长尾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089904"/>
            <a:ext cx="1371600" cy="329184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policy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19" y="6089904"/>
            <a:ext cx="4754880" cy="329184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训练阶段满载，生成阶段等待数据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6089904"/>
            <a:ext cx="5029200" cy="329184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idle / buffer_starvation 计时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641908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teacher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19" y="6419088"/>
            <a:ext cx="4754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仅在 rollout 结束后的窗口内有负载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9400" y="6419088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0">
                <a:solidFill>
                  <a:srgbClr val="262626"/>
                </a:solidFill>
              </a:rPr>
              <a:t>lock_wait 偏高说明算力不足；数据偏斜时部分 teacher 长期空闲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当前限制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55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</a:rPr>
              <a:t>① 跨 teacher 没有负载均衡</a:t>
            </a:r>
            <a:r>
              <a:rPr sz="1300" b="0">
                <a:solidFill>
                  <a:srgbClr val="5A5A5A"/>
                </a:solidFill>
              </a:rPr>
              <a:t>   路由完全由数据中的 agent_ref 决定，资源静态划分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92807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262626"/>
                </a:solidFill>
              </a:rPr>
              <a:t>数据分布不均时，低流量</a:t>
            </a:r>
            <a:r>
              <a:rPr sz="1300" b="0" dirty="0">
                <a:solidFill>
                  <a:srgbClr val="262626"/>
                </a:solidFill>
              </a:rPr>
              <a:t> teacher </a:t>
            </a:r>
            <a:r>
              <a:rPr sz="1300" b="0" dirty="0" err="1">
                <a:solidFill>
                  <a:srgbClr val="262626"/>
                </a:solidFill>
              </a:rPr>
              <a:t>长期空闲但节点仍被占用</a:t>
            </a:r>
            <a:r>
              <a:rPr sz="1300" b="0" dirty="0">
                <a:solidFill>
                  <a:srgbClr val="262626"/>
                </a:solidFill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11155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</a:rPr>
              <a:t>② teacher 资源不可弹性伸缩</a:t>
            </a:r>
            <a:r>
              <a:rPr sz="1300" b="0">
                <a:solidFill>
                  <a:srgbClr val="5A5A5A"/>
                </a:solidFill>
              </a:rPr>
              <a:t>   各 teacher 独占 cluster，负载不均时资源无法相互调配，也没有分时复用机制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</a:rPr>
              <a:t>高流量 teacher 算力不足时 lock_wait 持续偏高，轨迹进入 buffer 变慢，最终训练侧因等待数据而空闲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251960"/>
            <a:ext cx="11155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</a:rPr>
              <a:t>③ 同一 teacher 的请求不合并</a:t>
            </a:r>
            <a:r>
              <a:rPr sz="1300" b="0">
                <a:solidFill>
                  <a:srgbClr val="5A5A5A"/>
                </a:solidFill>
              </a:rPr>
              <a:t>   各线程的请求依次执行，不会合并为一个更大的 batch 做一次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</a:rPr>
              <a:t>单次仅 4 条样本，pad 到 DP 整数倍后利用率偏低；排队延迟全部计入轨迹采集耗时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806440"/>
            <a:ext cx="11155680" cy="68580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50" b="1">
                <a:solidFill>
                  <a:srgbClr val="262626"/>
                </a:solidFill>
              </a:rPr>
              <a:t>根本限制：N 个不同 checkpoint 需要 N 份独占节点，训练全程不释放，新增 teacher 的成本线性增长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852</Words>
  <Application>Microsoft Macintosh PowerPoint</Application>
  <PresentationFormat>宽屏</PresentationFormat>
  <Paragraphs>129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Zhaopeng Qiu</cp:lastModifiedBy>
  <cp:revision>4</cp:revision>
  <dcterms:created xsi:type="dcterms:W3CDTF">2013-01-27T09:14:16Z</dcterms:created>
  <dcterms:modified xsi:type="dcterms:W3CDTF">2026-07-16T13:06:03Z</dcterms:modified>
  <cp:category/>
</cp:coreProperties>
</file>